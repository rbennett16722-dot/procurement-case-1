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 ($)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Sheet1!$A$2:$A$9</c:f>
              <c:strCache>
                <c:ptCount val="8"/>
                <c:pt idx="0">
                  <c:v>Layer Pads</c:v>
                </c:pt>
                <c:pt idx="1">
                  <c:v>End Bags</c:v>
                </c:pt>
                <c:pt idx="2">
                  <c:v>Wood Pallet</c:v>
                </c:pt>
                <c:pt idx="3">
                  <c:v>Stretch Wrap</c:v>
                </c:pt>
                <c:pt idx="4">
                  <c:v>Top Frames</c:v>
                </c:pt>
                <c:pt idx="5">
                  <c:v>Pkg Labels</c:v>
                </c:pt>
                <c:pt idx="6">
                  <c:v>Wooden Frame</c:v>
                </c:pt>
                <c:pt idx="7">
                  <c:v>Other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1909249</c:v>
                </c:pt>
                <c:pt idx="1">
                  <c:v>1071522</c:v>
                </c:pt>
                <c:pt idx="2">
                  <c:v>920994</c:v>
                </c:pt>
                <c:pt idx="3">
                  <c:v>866966</c:v>
                </c:pt>
                <c:pt idx="4">
                  <c:v>539107</c:v>
                </c:pt>
                <c:pt idx="5">
                  <c:v>430913</c:v>
                </c:pt>
                <c:pt idx="6">
                  <c:v>408159</c:v>
                </c:pt>
                <c:pt idx="7">
                  <c:v>226172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EMEA</c:v>
                </c:pt>
                <c:pt idx="1">
                  <c:v>South America</c:v>
                </c:pt>
                <c:pt idx="2">
                  <c:v>NCA</c:v>
                </c:pt>
                <c:pt idx="3">
                  <c:v>Corporate</c:v>
                </c:pt>
                <c:pt idx="4">
                  <c:v>Aerosol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3346244</c:v>
                </c:pt>
                <c:pt idx="1">
                  <c:v>1444528</c:v>
                </c:pt>
                <c:pt idx="2">
                  <c:v>1141689</c:v>
                </c:pt>
                <c:pt idx="3">
                  <c:v>398772</c:v>
                </c:pt>
                <c:pt idx="4">
                  <c:v>41848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 ($)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Sheet1!$A$2:$A$12</c:f>
              <c:strCache>
                <c:ptCount val="11"/>
                <c:pt idx="0">
                  <c:v>Angleboard</c:v>
                </c:pt>
                <c:pt idx="1">
                  <c:v>GSD Verpack.</c:v>
                </c:pt>
                <c:pt idx="2">
                  <c:v>Group O</c:v>
                </c:pt>
                <c:pt idx="3">
                  <c:v>Egyptian Pal.</c:v>
                </c:pt>
                <c:pt idx="4">
                  <c:v>Orbis</c:v>
                </c:pt>
                <c:pt idx="5">
                  <c:v>Extendata</c:v>
                </c:pt>
                <c:pt idx="6">
                  <c:v>Fine Arts MX</c:v>
                </c:pt>
                <c:pt idx="7">
                  <c:v>Rehrig</c:v>
                </c:pt>
                <c:pt idx="8">
                  <c:v>Aldhana</c:v>
                </c:pt>
                <c:pt idx="9">
                  <c:v>Jay Wood</c:v>
                </c:pt>
                <c:pt idx="10">
                  <c:v>Other 15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1459249</c:v>
                </c:pt>
                <c:pt idx="1">
                  <c:v>1011306</c:v>
                </c:pt>
                <c:pt idx="2">
                  <c:v>866966</c:v>
                </c:pt>
                <c:pt idx="3">
                  <c:v>657912</c:v>
                </c:pt>
                <c:pt idx="4">
                  <c:v>650000</c:v>
                </c:pt>
                <c:pt idx="5">
                  <c:v>423277</c:v>
                </c:pt>
                <c:pt idx="6">
                  <c:v>398221</c:v>
                </c:pt>
                <c:pt idx="7">
                  <c:v>339107</c:v>
                </c:pt>
                <c:pt idx="8">
                  <c:v>118791</c:v>
                </c:pt>
                <c:pt idx="9">
                  <c:v>79535</c:v>
                </c:pt>
                <c:pt idx="10">
                  <c:v>368718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66360"/>
            <a:ext cx="12188952" cy="1280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PACKAGING-DUNNAGE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D7D31"/>
                </a:solidFill>
              </a:rPr>
              <a:t>CATEGORY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DD7EE"/>
                </a:solidFill>
              </a:rPr>
              <a:t>Specialty Aluminum Can Manufacturing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</a:rPr>
              <a:t>Prepared for: Chief Procurement Officer &amp; Chief Financial Officer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</a:rPr>
              <a:t>January 2023  |  2022 Spend Analysis &amp; Market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Presented by:  [Team Member 1]   •   [Team Member 2]   •   [Team Member 3]   •   [Team Member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</a:rPr>
              <a:t>Actual spend is 3.2x the $2M estimate — this category demands immediate strategic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566160" cy="1051560"/>
          </a:xfrm>
          <a:prstGeom prst="rect">
            <a:avLst/>
          </a:prstGeom>
          <a:solidFill>
            <a:srgbClr val="DDEBF7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4E79"/>
                </a:solidFill>
              </a:rPr>
              <a:t>$6.37M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Total 2022 Category Spend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005840"/>
            <a:ext cx="3566160" cy="1051560"/>
          </a:xfrm>
          <a:prstGeom prst="rect">
            <a:avLst/>
          </a:prstGeom>
          <a:solidFill>
            <a:srgbClr val="DDEBF7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0515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</a:rPr>
              <a:t>+218%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62763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Above $2M Initial CPO Estimate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005840"/>
            <a:ext cx="3566160" cy="1051560"/>
          </a:xfrm>
          <a:prstGeom prst="rect">
            <a:avLst/>
          </a:prstGeom>
          <a:solidFill>
            <a:srgbClr val="DDEBF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0515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162763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Unique Suppliers (33 Transactions)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194560"/>
            <a:ext cx="3566160" cy="1051560"/>
          </a:xfrm>
          <a:prstGeom prst="rect">
            <a:avLst/>
          </a:prstGeom>
          <a:solidFill>
            <a:srgbClr val="DDEBF7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24027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</a:rPr>
              <a:t>72.9%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1635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Spend in Top 5 Suppliers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194560"/>
            <a:ext cx="3566160" cy="1051560"/>
          </a:xfrm>
          <a:prstGeom prst="rect">
            <a:avLst/>
          </a:prstGeom>
          <a:solidFill>
            <a:srgbClr val="DDEBF7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24027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4E79"/>
                </a:solidFill>
              </a:rPr>
              <a:t>52.5%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81635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Spend Concentrated in EMEA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94560"/>
            <a:ext cx="3566160" cy="1051560"/>
          </a:xfrm>
          <a:prstGeom prst="rect">
            <a:avLst/>
          </a:prstGeom>
          <a:solidFill>
            <a:srgbClr val="DDEBF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224027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4.85%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281635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Share of Total Company Spend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337560"/>
            <a:ext cx="11612880" cy="32918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3649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21608"/>
            <a:ext cx="73152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49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Layer Pads + End Bags + Wood Pallets = 60% of spend — the 3 sub-categories most exposed to active supply chain disruption and raw material price volatility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325112"/>
            <a:ext cx="73152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3525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SINGLE-SOURCE RISK: Angleboard ($1.46M, Layer Pads) and Group O ($867K, Stretch Wrap) have no identified backup supplier — any disruption could halt production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28616"/>
            <a:ext cx="73152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56048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NCA anomaly: 25 US locations at only $45.7K/location vs. $180.6K in South America — investigate possible maverick spend or untracked purchasing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Category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</a:rPr>
              <a:t>Packaging-Dunnage: What We Buy, Where We Use It, and Why It Matters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57784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87552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WE BUY  (10 Sub-Categories)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57784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813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Layer Pads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4813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F4E79"/>
                </a:solidFill>
              </a:rPr>
              <a:t>$1,909,249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813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75B6"/>
                </a:solidFill>
              </a:rPr>
              <a:t>30.0%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29384"/>
            <a:ext cx="55778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9933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End Bags / Paper Bags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9933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F4E79"/>
                </a:solidFill>
              </a:rPr>
              <a:t>$1,071,522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9933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75B6"/>
                </a:solidFill>
              </a:rPr>
              <a:t>16.8%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41448"/>
            <a:ext cx="557784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5054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Wood Pallets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50545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F4E79"/>
                </a:solidFill>
              </a:rPr>
              <a:t>$920,994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50545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75B6"/>
                </a:solidFill>
              </a:rPr>
              <a:t>14.5%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53512"/>
            <a:ext cx="55778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0175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Stretch Wrap / Film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01752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F4E79"/>
                </a:solidFill>
              </a:rPr>
              <a:t>$866,966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0175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75B6"/>
                </a:solidFill>
              </a:rPr>
              <a:t>13.6%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65576"/>
            <a:ext cx="557784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52958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Top Frames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529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F4E79"/>
                </a:solidFill>
              </a:rPr>
              <a:t>$539,107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5295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75B6"/>
                </a:solidFill>
              </a:rPr>
              <a:t>8.5%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977640"/>
            <a:ext cx="55778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40416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Packaging Labels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04164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F4E79"/>
                </a:solidFill>
              </a:rPr>
              <a:t>$430,913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04164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75B6"/>
                </a:solidFill>
              </a:rPr>
              <a:t>6.8%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489704"/>
            <a:ext cx="557784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455371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Wooden Frames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55371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F4E79"/>
                </a:solidFill>
              </a:rPr>
              <a:t>$408,159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55371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75B6"/>
                </a:solidFill>
              </a:rPr>
              <a:t>6.4%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01768"/>
            <a:ext cx="55778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506577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Strap Tape + Other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50657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F4E79"/>
                </a:solidFill>
              </a:rPr>
              <a:t>$226,172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50657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E75B6"/>
                </a:solidFill>
              </a:rPr>
              <a:t>3.5%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623560"/>
            <a:ext cx="5577840" cy="4937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56692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CATEGORY SPEND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56692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</a:rPr>
              <a:t>$6,373,082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566928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960120"/>
            <a:ext cx="57607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987552"/>
            <a:ext cx="5577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COMPANY CONTEXT &amp; SITUATION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1435608"/>
            <a:ext cx="82296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1928" y="145389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Global Footprint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1928" y="176479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48 Locations: 25 NCA  |  15 EMEA  |  8 South America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2276856"/>
            <a:ext cx="82296" cy="7498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1928" y="22951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Supply Disruptions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81928" y="260604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8-16+ week lead times for pallets, top frames, and layer pads. Port congestion and logistics bottlenecks persist post-COVID.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118104"/>
            <a:ext cx="82296" cy="7498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1928" y="313639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Inflation Pressure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1928" y="344728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SA inflation &gt;90% (Argentina). EMEA energy costs rising. Lumber and resin prices volatile globally.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3959352"/>
            <a:ext cx="82296" cy="7498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81928" y="3977639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Workforce Turnover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81928" y="428853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2 US locations experiencing high turnover — creates demand variability and potential maverick buying risk.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0" y="4800600"/>
            <a:ext cx="82296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81928" y="481888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Key Named Suppliers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81928" y="5129784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Orbis and Rehrig identified as larger/strategic suppliers. Both offer returnable packaging programs.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5641848"/>
            <a:ext cx="82296" cy="7498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81928" y="566013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Initial CPO Estimate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81928" y="597103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Supervisor estimated $2M category spend. Actual: $6.37M — a $4.37M / 218% variance requiring immediate attention.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Spend Overview: Sub-Category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</a:rPr>
              <a:t>Top 4 sub-categories = 74.9% of spend | All 4 face active supply disruption or raw material inflation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005840"/>
          <a:ext cx="7132320" cy="5577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543800" y="1051560"/>
            <a:ext cx="4389120" cy="1280160"/>
          </a:xfrm>
          <a:prstGeom prst="rect">
            <a:avLst/>
          </a:prstGeom>
          <a:solidFill>
            <a:srgbClr val="F2F2F2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088136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00000"/>
                </a:solidFill>
              </a:rPr>
              <a:t>74.9%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728216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of spend in top 4
sub-categories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441448"/>
            <a:ext cx="4389120" cy="128016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478024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4E79"/>
                </a:solidFill>
              </a:rPr>
              <a:t>$2.98M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118104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Layer Pads + End Bags
(supply disruption risk)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800" y="3831335"/>
            <a:ext cx="4389120" cy="1280160"/>
          </a:xfrm>
          <a:prstGeom prst="rect">
            <a:avLst/>
          </a:prstGeom>
          <a:solidFill>
            <a:srgbClr val="F2F2F2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867911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D7D31"/>
                </a:solidFill>
              </a:rPr>
              <a:t>$1.84M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07992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Wood Pallets + Wooden Frames
(lumber exposure)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5221224"/>
            <a:ext cx="4389120" cy="1280160"/>
          </a:xfrm>
          <a:prstGeom prst="rect">
            <a:avLst/>
          </a:prstGeom>
          <a:solidFill>
            <a:srgbClr val="F2F2F2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525780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000"/>
                </a:solidFill>
              </a:rPr>
              <a:t>$867K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5897880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Stretch Wrap — single-source
supplier (Group 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Spend Overview: Geographic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</a:rPr>
              <a:t>EMEA dominates at 52.5% | South America shows highest spend per location | NCA spend gap flagged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005840"/>
          <a:ext cx="566928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6126480" y="1005840"/>
            <a:ext cx="585216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005840"/>
          <a:ext cx="58521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371600"/>
                <a:gridCol w="1005840"/>
                <a:gridCol w="822960"/>
                <a:gridCol w="1097280"/>
              </a:tblGrid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Spend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% Total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Loca-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tions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$/Location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EMEA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$3,346,244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52.5%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$223,083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South America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$1,444,528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22.7%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$180,566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NCA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$1,141,689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17.9%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$45,668  ⚠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Corporate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$398,772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6.3%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Aerosol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$41,848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$6,373,082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126480" y="4206240"/>
            <a:ext cx="82296" cy="73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4224527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⚠  NCA ANOMALY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449884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25 US locations at $45.7K/location is 75% below SA per-location spend. Possible maverick spend or transactions coded outside PACKAGING category.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5047488"/>
            <a:ext cx="82296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506577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</a:rPr>
              <a:t>⚠  SA INFLATION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5340096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Only 3 transactions but $1.44M spend. Argentina inflation &gt;90% in 2022. Real cost impact likely understated — watch 2023 closely.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5888736"/>
            <a:ext cx="82296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5907023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</a:rPr>
              <a:t>✔  EMEA STRATEGIC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6181344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$3.35M (52.5%) of spend. One location experiencing energy disruption. Largest region by spend warrants priority supplier relationship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Supplier Analysis: Pareto &amp; Concentration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</a:rPr>
              <a:t>6 of 25 suppliers = 80% of spend | Top 2 are SINGLE-SOURCE | This is a risk, not a strength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960120"/>
          <a:ext cx="6720839" cy="580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/>
                <a:gridCol w="1874519"/>
                <a:gridCol w="1188720"/>
                <a:gridCol w="868680"/>
                <a:gridCol w="868680"/>
                <a:gridCol w="1572768"/>
              </a:tblGrid>
              <a:tr h="48387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Supplier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Spend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% Total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Cum. 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Angleboard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$1,459,249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22.9%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22.9%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Layer Pads ⚠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GSD Verpackungen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$1,011,306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15.9%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38.8%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End Bags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Group O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$866,966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13.6%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52.4%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Stretch Wrap ⚠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Egyptian Pallets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$657,912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10.3%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62.7%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Wood Pallets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Orbis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$650,000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10.2%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72.9%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Plastic Pallets/Frames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Extendata Solutions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$423,277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6.6%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79.5%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Pkg Labels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Fine Arts de Mexico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$398,221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85.8%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Wooden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Rehrig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$339,107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91.1%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Top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Aldhana Wood Ind.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$118,791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93.0%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Wood Pallets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Jay Wood Industry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$79,535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94.2%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Wood/Top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Other 15 Suppliers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$368,718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Various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1435608"/>
            <a:ext cx="82296" cy="4754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231136"/>
            <a:ext cx="82296" cy="4754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086600" y="1005840"/>
          <a:ext cx="48463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086600" y="5486400"/>
            <a:ext cx="2331720" cy="502920"/>
          </a:xfrm>
          <a:prstGeom prst="rect">
            <a:avLst/>
          </a:prstGeom>
          <a:solidFill>
            <a:srgbClr val="F2F2F2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555040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D7D31"/>
                </a:solidFill>
              </a:rPr>
              <a:t>6 of 25 Suppliers = 80% Spend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55480" y="5486400"/>
            <a:ext cx="2331720" cy="502920"/>
          </a:xfrm>
          <a:prstGeom prst="rect">
            <a:avLst/>
          </a:prstGeom>
          <a:solidFill>
            <a:srgbClr val="F2F2F2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19" y="555040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</a:rPr>
              <a:t>Single-Source Risk = $2.33M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6053328"/>
            <a:ext cx="2331720" cy="502920"/>
          </a:xfrm>
          <a:prstGeom prst="rect">
            <a:avLst/>
          </a:prstGeom>
          <a:solidFill>
            <a:srgbClr val="F2F2F2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6117336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0AD47"/>
                </a:solidFill>
              </a:rPr>
              <a:t>Orbis + Rehrig Returnable Opp.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6053328"/>
            <a:ext cx="2331720" cy="50292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19" y="6117336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4E79"/>
                </a:solidFill>
              </a:rPr>
              <a:t>Top 10 of 25 = 94.2% Spend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Market Research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</a:rPr>
              <a:t>10 trends identified | 4 HIGH impact | 4 MEDIUM impact | 2 OPPORTUNITIES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950976"/>
          <a:ext cx="1161288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6858000"/>
                <a:gridCol w="1005840"/>
                <a:gridCol w="3429000"/>
              </a:tblGrid>
              <a:tr h="5237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Issue / Market Trend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Affected Sub-Categories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2370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Global Supply Chain Disruptions — 8-16+ week lead times for pallets, top frames, layer pads. Port congestion and logistics bottlenecks persist post-COVID.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Pallets, Top Frames, Layer Pads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70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Resin &amp; Raw Material Price Volatility — Stretch wrap and plastic pallets tied to polypropylene/PE resin and oil prices. Direct cost pass-through from suppliers.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Stretch Wrap, Plastic Pallets, Layer Pads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370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Lumber Price Volatility — Wood pallet costs ($921K, 14.5%) directly exposed to softwood lumber markets. ISPM-15 heat treatment adds cost for international shipments.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Wood Pallets, Wooden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70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South American Inflation Exposure — $1.44M in SA with Argentina inflation &gt;90%. Real cost increases likely understated in 2022 reported spend.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All SA-Sourced Materials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370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European Energy Crisis Impact — Energy disruption at 1 EMEA location. Energy-intensive manufacturers (plastic, corrugated) passing cost increases to buyers.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Layer Pads, End Bags, Stretch Wrap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70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Sustainability &amp; Regulatory Pressure — EU Packaging &amp; Packaging Waste Regulation (PPWR) mandates recycled content. Potential material substitutions and compliance costs ahead.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Stretch Wrap, Plastic Pallets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370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Workforce Turnover at 2 US Sites — High turnover creates demand volatility, packaging waste, and maverick buying risk. Procurement process gaps possible.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All Sub-Categories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70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Data Visibility &amp; Classification Gaps — 9 transactions ($171K) unclassified in source data. NCA spend low for 25 locations. Category visibility is incomplete.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All Sub-Categories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3701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Returnable Packaging Opportunity — Orbis + Rehrig (combined $989K) both offer returnable/reusable pallet programs. Industry TCO savings: 15-30% vs. one-way pallets.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OPPTY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Pallets, Top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371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Global Volume Aggregation — Regional purchasing silos likely paying different prices to the same global suppliers. Centralizing could unlock significant volume leverage.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OPPTY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All Suppliers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Risk Analysis &amp; Mitigation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</a:rPr>
              <a:t>6 active risks | 4 rated HIGH | Supplier concentration is the most immediate and quantifiable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950976"/>
          <a:ext cx="1161288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00200"/>
                <a:gridCol w="822960"/>
                <a:gridCol w="868680"/>
                <a:gridCol w="6309360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Like-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lihood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Mitigation Strategy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Single-Source Supplier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Supply Continuity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Dual-source Angleboard (Layer Pads, $1.46M) and Group O (Stretch Wrap, $867K) within Q1-Q2 2023. Issue mini-RFQ to 2-3 qualified alternates per category. Combined at-risk spend: $2.33M.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South American Inflation / FX Volatility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Financial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Implement index-linked pricing clauses tied to regional inflation indices. Review SA supplier contracts quarterly. Explore USD-denominated contracts to reduce FX exposure on $1.44M SA spend.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Lumber &amp; Resin Price Volatility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Financial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Add commodity escalation/de-escalation clauses tied to PPI Lumber Index (wood pallets, $921K) and ICIS resin pricing (stretch wrap, $867K). Hedge commodity exposure where volume warrants.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EMEA Energy Disruption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Supply Continuity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Assess energy surcharge pass-through clauses in EU supplier contracts. Identify backup supply sources outside energy-disrupted regions for top EMEA suppliers ($3.35M spend).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Spend Data Gaps / Maverick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Audit NCA plant purchasing immediately. Mandate Category 3 on all POs. Investigate NCA spend gap ($45.7K vs. $180.6K/location in SA). Implement spend visibility dashboard with monthly refresh.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EU PPWR Regulatory Compliance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Regulatory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Engage EMEA suppliers on recycled content roadmap by Q3 2023. Pilot sustainable alternatives at 1-2 EMEA locations. Assess full PPWR compliance cost in category budget planning for 2024.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Stakeholder Interview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</a:rPr>
              <a:t>12 questions across 3 functional groups — grounded in spend data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3749039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784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OPERATIONS &amp; SUPPLY 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749039" cy="13075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475488" cy="1307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874519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4630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What are current lead times for pallets, top frames, and layer pads? How have they changed vs. 12 months ago?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450591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0A0"/>
                </a:solidFill>
              </a:rPr>
              <a:t>→ Plant Ops / Supply 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61488"/>
            <a:ext cx="3749039" cy="1307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761488"/>
            <a:ext cx="475488" cy="1307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3218688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280720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Have any plants had production stoppages due to packaging-dunnage shortages in the last 12 months?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79476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0A0"/>
                </a:solidFill>
              </a:rPr>
              <a:t>→ Plant Managers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05656"/>
            <a:ext cx="3749039" cy="13075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105656"/>
            <a:ext cx="475488" cy="1307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4562856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151376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What is the current inventory policy (days on hand)? Are we safety-stocking given 8-16 week lead times?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5138928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0A0"/>
                </a:solidFill>
              </a:rPr>
              <a:t>→ Supply Chain / Planning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449824"/>
            <a:ext cx="3749039" cy="1307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449824"/>
            <a:ext cx="475488" cy="1307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" y="5907024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549554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Are we using returnable/reusable packaging programs with Orbis and Rehrig? What is the return rate and TCO?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6483096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0A0"/>
                </a:solidFill>
              </a:rPr>
              <a:t>→ Operations / Logistics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960120"/>
            <a:ext cx="3749039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79" y="9784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PROCUREMENT &amp; COMMERCIAL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1417320"/>
            <a:ext cx="3749039" cy="13075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59" y="1417320"/>
            <a:ext cx="475488" cy="1307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88536" y="1874519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2312" y="14630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When were the last competitive bids for our top 5 suppliers? Do we have contracts or is this spot buying?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450591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0A0"/>
                </a:solidFill>
              </a:rPr>
              <a:t>→ Procurement / Category Lead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2761488"/>
            <a:ext cx="3749039" cy="1307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59" y="2761488"/>
            <a:ext cx="475488" cy="1307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88536" y="3218688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280720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Why is 72.9% of spend with 5 suppliers? Is concentration by strategic design or lack of sourcing events?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82312" y="379476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0A0"/>
                </a:solidFill>
              </a:rPr>
              <a:t>→ Global Procurement Director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59" y="4105656"/>
            <a:ext cx="3749039" cy="13075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51959" y="4105656"/>
            <a:ext cx="475488" cy="1307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88536" y="4562856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82312" y="4151376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Is there maverick spend outside procurement? NCA at $45.7K/location seems very low for 25 US sites.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82312" y="5138928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0A0"/>
                </a:solidFill>
              </a:rPr>
              <a:t>→ Plant Managers / Finance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5449824"/>
            <a:ext cx="3749039" cy="1307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51959" y="5449824"/>
            <a:ext cx="475488" cy="1307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88536" y="5907024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82312" y="549554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Is there opportunity to aggregate global volume across regions with Orbis / Rehrig for better pricing?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82312" y="6483096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0A0"/>
                </a:solidFill>
              </a:rPr>
              <a:t>→ Global Procurement Director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960120"/>
            <a:ext cx="3749039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20" y="9784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FINANCE &amp; STRATEGY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1417320"/>
            <a:ext cx="3749039" cy="13075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1417320"/>
            <a:ext cx="475488" cy="1307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6175" y="1874519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59952" y="14630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What price increases have we absorbed over 2 years? Do our supplier agreements include escalation clauses?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59952" y="2450591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0A0"/>
                </a:solidFill>
              </a:rPr>
              <a:t>→ Finance / Procurement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2761488"/>
            <a:ext cx="3749039" cy="1307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29600" y="2761488"/>
            <a:ext cx="475488" cy="1307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66175" y="3218688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59952" y="280720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Are packaging costs passed to customers or absorbed internally? What is the COGS and margin impact?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59952" y="379476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0A0"/>
                </a:solidFill>
              </a:rPr>
              <a:t>→ CFO / Commercial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4105656"/>
            <a:ext cx="3749039" cy="13075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600" y="4105656"/>
            <a:ext cx="475488" cy="1307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66175" y="4562856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59952" y="4151376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Has the company evaluated EU PPWR compliance requirements? What operational changes are needed in EMEA?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59952" y="5138928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0A0"/>
                </a:solidFill>
              </a:rPr>
              <a:t>→ Legal / Sustainability / EMEA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0" y="5449824"/>
            <a:ext cx="3749039" cy="1307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29600" y="5449824"/>
            <a:ext cx="475488" cy="1307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66175" y="5907024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59952" y="549554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Who approves packaging specs, and how often are they reviewed for cost optimization opportunities?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59952" y="6483096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0A0"/>
                </a:solidFill>
              </a:rPr>
              <a:t>→ Engineering / Quality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</a:rPr>
              <a:t>5 specific actions | Est. $583K–$1.37M in value opportunity | Prioritized by risk and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87552"/>
            <a:ext cx="11612880" cy="11247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87552"/>
            <a:ext cx="658368" cy="11247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07592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987552"/>
            <a:ext cx="141732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024128"/>
            <a:ext cx="1380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IMMEDIATE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2618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Dual-Source Layer Pads &amp; Stretch Wrap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09344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$1.46M (Angleboard) and $867K (Group O) are single-source with no identified backup. Issue mini-RFQ to 2-3 qualified alternates per category by end of Q1 2023. Combined exposure protected: $2.33M.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097280"/>
            <a:ext cx="256032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188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Risk Reduction
$2.33M Protected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148840"/>
            <a:ext cx="11612880" cy="1124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148840"/>
            <a:ext cx="658368" cy="112471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468880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148840"/>
            <a:ext cx="1417320" cy="274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2185416"/>
            <a:ext cx="1380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SHORT-TERM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4231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Run Competitive Sourcing Events for Top 5 Suppliers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770632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Unclear when RFPs were last conducted. A 5% cost reduction on $4.71M (top 5) = $235K savings. A 10% reduction = $471K. Prioritize Angleboard and GSD Verpackungen as first targets.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2258568"/>
            <a:ext cx="256032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35000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Savings Est.
$235K–$471K/yr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310128"/>
            <a:ext cx="11612880" cy="11247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310128"/>
            <a:ext cx="658368" cy="112471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630168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3310128"/>
            <a:ext cx="1417320" cy="274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3346704"/>
            <a:ext cx="1380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SHORT-TERM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58444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Evaluate Returnable Packaging TCO with Orbis and Rehrig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93192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Orbis + Rehrig combined spend = $989K (15.5% of category). Both offer returnable pallet programs. Industry TCO savings: 15–30% vs. one-way pallets. Commission a formal business case in Q2 2023.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3419856"/>
            <a:ext cx="256032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3511296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TCO Savings Est.
$148K–$297K/yr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471416"/>
            <a:ext cx="11612880" cy="1124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471416"/>
            <a:ext cx="658368" cy="11247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791456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" y="4471416"/>
            <a:ext cx="141732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507992"/>
            <a:ext cx="1380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MEDIUM-TERM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745736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Add Commodity Escalation Clauses &amp; Audit NCA Spend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093208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Lumber (14.5%) and resin (13.6%) expose the company to volatile commodity markets with no contractual protection. Simultaneously, investigate why NCA has only $45.7K/location vs. $180.6K in SA — potential untracked spend or PO coding errors.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81160" y="4581144"/>
            <a:ext cx="256032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4672584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Cost Control
+ Data Integrity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632704"/>
            <a:ext cx="11612880" cy="11247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5632704"/>
            <a:ext cx="658368" cy="11247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5952744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" y="5632704"/>
            <a:ext cx="141732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4128" y="5669280"/>
            <a:ext cx="1380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MEDIUM-TERM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9070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Launch Global Volume Aggregation Strategy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6254496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Suppliers like Orbis and Rehrig likely operate across all regions. Centralizing $6.37M in category spend under a global master agreement could unlock volume-based pricing discounts and standardized terms across all 48 locations.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5742432"/>
            <a:ext cx="256032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0" y="583387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Strategic Value
$300K–$600K/yr 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