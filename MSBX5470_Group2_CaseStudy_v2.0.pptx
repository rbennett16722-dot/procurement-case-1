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09728" cy="2286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PACKAGING &amp; DUNNAGE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DD7EE"/>
                </a:solidFill>
              </a:rPr>
              <a:t>Spend Analysis &amp; Category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ED7D31"/>
                </a:solidFill>
              </a:rPr>
              <a:t>Version 2.0  —  Corrected Dataset  |  3 Confirmed + 5 Suspected Reclassifications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</a:rPr>
              <a:t>MSBX 5470 Procurement &amp; Contracting  |  Group 2  |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DD7EE"/>
                </a:solidFill>
              </a:rPr>
              <a:t>Specialty Aluminum Can Manufacturing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Changed: v1.0 vs.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Data quality corrections applied to the PACKAGING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82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D7D31"/>
                </a:solidFill>
              </a:rPr>
              <a:t>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MSBX 5470  |  Group 2  |  Packaging &amp; Dunnage Spend Analysis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30352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95959"/>
                </a:solidFill>
              </a:rPr>
              <a:t>Version 1.0  (Original)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Transactions:  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391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Total Spend:   $6,373,081.88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865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Unique Suppliers:  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340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815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</a:rPr>
              <a:t>Issues: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</a:rPr>
              <a:t> SODEXO workwear coded as PACKAGING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764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</a:rPr>
              <a:t> Forklift gas coded as PACKAGING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239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</a:rPr>
              <a:t> Equipment shaft coded as PACKAGING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714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</a:rPr>
              <a:t> 5 additional suspects not flagged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188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</a:rPr>
              <a:t> 6 blank Cat3 rows unaddressed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143000"/>
            <a:ext cx="5943600" cy="5029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2344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96"/>
                </a:solidFill>
              </a:rPr>
              <a:t>Version 2.0  (Corrected)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6916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96"/>
                </a:solidFill>
              </a:rPr>
              <a:t>Transactions:  30  (-3 confirmed)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0391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96"/>
                </a:solidFill>
              </a:rPr>
              <a:t>Total Spend:   $6,299,708.55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38658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96"/>
                </a:solidFill>
              </a:rPr>
              <a:t>Unique Suppliers:  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73405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96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0815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96"/>
                </a:solidFill>
              </a:rPr>
              <a:t>Improvements: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4290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8610"/>
                </a:solidFill>
              </a:rPr>
              <a:t> 3 mis-classifications removed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7764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8610"/>
                </a:solidFill>
              </a:rPr>
              <a:t> 5 more suspects flagged for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12394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8610"/>
                </a:solidFill>
              </a:rPr>
              <a:t> 6 blank Cat3 rows researched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47141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8610"/>
                </a:solidFill>
              </a:rPr>
              <a:t> EXTENDATA ($423K) flagged as 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81888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8610"/>
                </a:solidFill>
              </a:rPr>
              <a:t> Payment terms anomalies documented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3832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</a:rPr>
              <a:t>&gt;&gt;&gt;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Quality: 3 Confirmed Reclassifications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Removed from PACKAGING — corrections applied in workbook (Column 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82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D7D31"/>
                </a:solidFill>
              </a:rPr>
              <a:t>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MSBX 5470  |  Group 2  |  Packaging &amp; Dunnage Spend Analysis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11612880" cy="41148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612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1612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Supplier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161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 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1612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Corrected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1612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1612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00200"/>
            <a:ext cx="11612880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1645920"/>
            <a:ext cx="1005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Row 543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1645920"/>
            <a:ext cx="2011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SODEXO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1645920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2021 NOV - WORKWEAR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645920"/>
            <a:ext cx="182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HR / Uniforms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645920"/>
            <a:ext cx="1097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0000"/>
                </a:solidFill>
              </a:rPr>
              <a:t>$59,402.56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164592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Largest single error — employee workwear is not packaging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88920"/>
            <a:ext cx="116128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834639"/>
            <a:ext cx="1005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Row 755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2834639"/>
            <a:ext cx="2011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JEBLA SA DE CV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834639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GAS MONTACARGAS 1-15 OCT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834639"/>
            <a:ext cx="182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Energy &amp; Utilities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834639"/>
            <a:ext cx="1097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0000"/>
                </a:solidFill>
              </a:rPr>
              <a:t>$10,832.31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834639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Montacargas = forklift (Spanish); gas = fuel, not packaging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977639"/>
            <a:ext cx="11612880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023359"/>
            <a:ext cx="1005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Row 211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023359"/>
            <a:ext cx="2011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ARDAGH METAL BEVERAGE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023359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SHAFT, 265018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023359"/>
            <a:ext cx="182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Equipment - General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023359"/>
            <a:ext cx="1097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0000"/>
                </a:solidFill>
              </a:rPr>
              <a:t>$3,138.46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4023359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Machine shaft is an equipment component, not dunnage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257800"/>
            <a:ext cx="11612880" cy="548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32180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Total removed from PACKAGING:  $73,373.33  |  Corrected spend: $6,299,708.55  (was $6,373,081.88)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NEW: 5 Additional Suspected Misclassifications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~$429K still coded to PACKAGING — requires team review and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82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D7D31"/>
                </a:solidFill>
              </a:rPr>
              <a:t>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MSBX 5470  |  Group 2  |  Packaging &amp; Dunnage Spend Analysis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11612880" cy="41148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612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1612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Supplier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16128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 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1612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Current Cat3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1612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Should 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1612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161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Why Suspicious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00200"/>
            <a:ext cx="11612880" cy="850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636776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653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1636776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EXTENDATA SOLUTIONS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1636776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SSO FOR BUSINESS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1636776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PACKAGING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636776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IT / PROF.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1636776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$340,938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1636776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Single Sign-On = IT software. Not a label.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496312"/>
            <a:ext cx="11612880" cy="850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532888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643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253288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EXTENDATA SOLUTIONS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532888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UIM SERVICE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2532888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PACKAGING 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532888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IT / PROF.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2532888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$57,835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53288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UIM service response = IT help desk. Not packaging.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392424"/>
            <a:ext cx="11612880" cy="850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42900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579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42900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FOKSAN DOO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342900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FOTOKOPIR PAPIR A4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342900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PAPER SHEET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42900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OFFICE SUPPLIES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342900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$16,651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4290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Fotokopir = photocopy (Serbian). Office paper.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288536"/>
            <a:ext cx="11612880" cy="850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32511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551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4325112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NPB AUTOMATION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4325112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CIRCUIT BREAKER 5A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4325112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WOODEN FRAME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4325112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EQUIPMENT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4325112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$9,938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325112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Electrical component coded as wooden frame.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184648"/>
            <a:ext cx="11612880" cy="8503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5221224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84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522122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GRUPMICROS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5221224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RENO MANT. MC92XX 1Y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9240" y="5221224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PACKAGING LABELS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5221224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IT / PROF. SERVICES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41080" y="5221224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$3,710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5221224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MC92XX = Motorola scanner. Maintenance contract.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6126480"/>
            <a:ext cx="1161288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Combined potential impact: ~$429,071  |  If confirmed: corrected packaging spend drops to ~$5,870,637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 — Corrected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30 transactions, $6.30M spend after 3 confirmed reclassifications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82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D7D31"/>
                </a:solidFill>
              </a:rPr>
              <a:t>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MSBX 5470  |  Group 2  |  Packaging &amp; Dunnage Spend Analysis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3657600" cy="155448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$6,299,709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</a:rPr>
              <a:t>Total Packaging Spend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3657600" cy="155448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</a:rPr>
              <a:t>Transactions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3657600" cy="155448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</a:rPr>
              <a:t>Unique Suppliers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17520"/>
            <a:ext cx="3657600" cy="1554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200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$209,990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</a:rPr>
              <a:t>Avg Transaction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017520"/>
            <a:ext cx="3657600" cy="1554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200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</a:rPr>
              <a:t>of Total Dataset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017520"/>
            <a:ext cx="3657600" cy="1554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200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~70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</a:rPr>
              <a:t>Avg Payment Terms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937760"/>
            <a:ext cx="11612880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109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Actual spend is 3.2x higher than the original $2M estimate — this category warrants strategic attention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376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Top 5 suppliers = 73.7% of corrected spend  |  Concentration risk is 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424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EMEA dominates at 52.1%  |  South America highest spend per transaction ($481,509 avg)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Spend Overview: Sub-Category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Layer Pads is the dominant sub-category at 30.3% of corrected spend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82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D7D31"/>
                </a:solidFill>
              </a:rPr>
              <a:t>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MSBX 5470  |  Group 2  |  Packaging &amp; Dunnage Spend Analysis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LAYER PADS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234440"/>
            <a:ext cx="3511296" cy="384048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43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F3896"/>
                </a:solidFill>
              </a:rPr>
              <a:t>$1,909,249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143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30.3%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77393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END BAGS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1865376"/>
            <a:ext cx="1975104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73936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F3896"/>
                </a:solidFill>
              </a:rPr>
              <a:t>$1,071,522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77393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17.0%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4048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WOOD PALLET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496312"/>
            <a:ext cx="1691640" cy="384048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40487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F3896"/>
                </a:solidFill>
              </a:rPr>
              <a:t>$920,994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4048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14.6%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0358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STRETCH WRAP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3127248"/>
            <a:ext cx="1591056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03580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F3896"/>
                </a:solidFill>
              </a:rPr>
              <a:t>$866,966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0358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13.8%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66674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TOP FRAMES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758183"/>
            <a:ext cx="987552" cy="384048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66674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F3896"/>
                </a:solidFill>
              </a:rPr>
              <a:t>$539,107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666744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8.6%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42976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PACKAGING LABELS*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4389119"/>
            <a:ext cx="795528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29767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F3896"/>
                </a:solidFill>
              </a:rPr>
              <a:t>$430,913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29767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6.8%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92861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WOODEN FRAME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5020055"/>
            <a:ext cx="749808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928616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F3896"/>
                </a:solidFill>
              </a:rPr>
              <a:t>$408,159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92861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6.5%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55595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OTHER / BLANK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5650992"/>
            <a:ext cx="283464" cy="38404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555955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F3896"/>
                </a:solidFill>
              </a:rPr>
              <a:t>$152,799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555955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2.4%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2636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0000"/>
                </a:solidFill>
              </a:rPr>
              <a:t>* PACKAGING LABELS includes EXTENDATA SOLUTIONS ($423K) — under review for potential IT reclassification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Spend Overview: Geographic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EMEA leads at 52.1% — South America has highest spend per transaction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82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D7D31"/>
                </a:solidFill>
              </a:rPr>
              <a:t>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MSBX 5470  |  Group 2  |  Packaging &amp; Dunnage Spend Analysis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48640" cy="82296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280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96"/>
                </a:solidFill>
              </a:rPr>
              <a:t>EMEA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280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F3896"/>
                </a:solidFill>
              </a:rPr>
              <a:t>$3,283,703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6053328" cy="45720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88167" y="1280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96"/>
                </a:solidFill>
              </a:rPr>
              <a:t>52.1%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280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595959"/>
                </a:solidFill>
              </a:rPr>
              <a:t>$252,592/txn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94560"/>
            <a:ext cx="548640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2860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96"/>
                </a:solidFill>
              </a:rPr>
              <a:t>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2860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F3896"/>
                </a:solidFill>
              </a:rPr>
              <a:t>$1,444,528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377440"/>
            <a:ext cx="2660904" cy="457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5744" y="22860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96"/>
                </a:solidFill>
              </a:rPr>
              <a:t>22.9%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286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595959"/>
                </a:solidFill>
              </a:rPr>
              <a:t>$481,509/txn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00400"/>
            <a:ext cx="548640" cy="82296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2918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96"/>
                </a:solidFill>
              </a:rPr>
              <a:t>NCA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2918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F3896"/>
                </a:solidFill>
              </a:rPr>
              <a:t>$1,141,689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383280"/>
            <a:ext cx="2103120" cy="45720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3291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96"/>
                </a:solidFill>
              </a:rPr>
              <a:t>18.1%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291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595959"/>
                </a:solidFill>
              </a:rPr>
              <a:t>$126,854/txn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206240"/>
            <a:ext cx="548640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976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96"/>
                </a:solidFill>
              </a:rPr>
              <a:t>Corporate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2976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F3896"/>
                </a:solidFill>
              </a:rPr>
              <a:t>$398,772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4389120"/>
            <a:ext cx="731520" cy="457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66359" y="42976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96"/>
                </a:solidFill>
              </a:rPr>
              <a:t>6.3%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595959"/>
                </a:solidFill>
              </a:rPr>
              <a:t>$199,386/txn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212080"/>
            <a:ext cx="548640" cy="8229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03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96"/>
                </a:solidFill>
              </a:rPr>
              <a:t>Aerosol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5303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F3896"/>
                </a:solidFill>
              </a:rPr>
              <a:t>$31,016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5394960"/>
            <a:ext cx="54864" cy="457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9703" y="53035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96"/>
                </a:solidFill>
              </a:rPr>
              <a:t>0.5%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303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595959"/>
                </a:solidFill>
              </a:rPr>
              <a:t>$10,339/txn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943600"/>
            <a:ext cx="1161288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00000"/>
                </a:solidFill>
              </a:rPr>
              <a:t>NCA Flag:  25 plant locations, only $45,668/location vs. EMEA $252,592/location — potential maverick spend or data gaps in NCA region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Supplier Analysis: Pareto &amp; Concentration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Top 5 suppliers = 73.7% of spend — single-source risk on Layer Pads &amp; Stretch Wrap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82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D7D31"/>
                </a:solidFill>
              </a:rPr>
              <a:t>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MSBX 5470  |  Group 2  |  Packaging &amp; Dunnage Spend Analysis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11612880" cy="384048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1704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1704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Supplier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1704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17043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% of Pkg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11704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Cumul.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1704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11704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554480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6276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1627632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ANGLEBOARD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1627632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4B5"/>
                </a:solidFill>
              </a:rPr>
              <a:t>$1,459,249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1627632"/>
            <a:ext cx="7132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23.2%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1627632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39.2%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627632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Layer Pads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1664207"/>
            <a:ext cx="4270248" cy="329184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121408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19456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194560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GSD VERPACKUNGEN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194560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4B5"/>
                </a:solidFill>
              </a:rPr>
              <a:t>$1,011,306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194560"/>
            <a:ext cx="7132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16.1%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2194560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52.9%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194560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End Bags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2231136"/>
            <a:ext cx="2962656" cy="329184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2688336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276148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276148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GROUP 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2761488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4B5"/>
                </a:solidFill>
              </a:rPr>
              <a:t>$866,966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2761488"/>
            <a:ext cx="7132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13.8%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2761488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63.4%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276148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Stretch Wrap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09560" y="2798064"/>
            <a:ext cx="2532888" cy="329184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3255263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3328415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3328415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EGYPTIAN PALLETS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3328415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4B5"/>
                </a:solidFill>
              </a:rPr>
              <a:t>$657,912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3328415"/>
            <a:ext cx="7132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10.4%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3328415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73.7%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3328415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Wood Pallets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60" y="3364991"/>
            <a:ext cx="1929384" cy="329184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822191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89534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3895344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ORBIS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29000" y="3895344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4B5"/>
                </a:solidFill>
              </a:rPr>
              <a:t>$650,000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3895344"/>
            <a:ext cx="7132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10.3%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40680" y="3895344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80.5%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3895344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Top Frames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09560" y="3931920"/>
            <a:ext cx="1901952" cy="329184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" y="4389120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44622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4462272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EXTENDATA SOLUTIONS *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29000" y="4462272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4B5"/>
                </a:solidFill>
              </a:rPr>
              <a:t>$423,277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63440" y="4462272"/>
            <a:ext cx="7132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6.7%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40680" y="4462272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86.8%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4462272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Labels (review)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09560" y="4498848"/>
            <a:ext cx="123444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4320" y="4956048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502920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5029200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FINE ARTS DE MEXICO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29000" y="5029200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4B5"/>
                </a:solidFill>
              </a:rPr>
              <a:t>$398,221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63440" y="5029200"/>
            <a:ext cx="7132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6.3%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40680" y="5029200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92.2%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9360" y="5029200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Wooden Frame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09560" y="5065776"/>
            <a:ext cx="1170432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5522976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" y="559612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" y="559612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REHRIG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29000" y="5596128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4B5"/>
                </a:solidFill>
              </a:rPr>
              <a:t>$339,107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63440" y="5596128"/>
            <a:ext cx="7132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5.4%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40680" y="5596128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94.0%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9360" y="559612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896"/>
                </a:solidFill>
              </a:rPr>
              <a:t>Top Frames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09560" y="5632704"/>
            <a:ext cx="996696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0000"/>
                </a:solidFill>
              </a:rPr>
              <a:t>* EXTENDATA SOLUTIONS flagged as potential IT spend — classification under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Procurement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Prioritized action plan based on corrected spend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82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D7D31"/>
                </a:solidFill>
              </a:rPr>
              <a:t>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MSBX 5470  |  Group 2  |  Packaging &amp; Dunnage Spend Analysis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100584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" y="1207008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124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Audit EXTENDATA SOLUTIONS ($423K)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435607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SSO and UIM service responses coded to PACKAGING LABELS. Escalate to Finance/IT. Could reduce packaging budget by 6.7%.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92224"/>
            <a:ext cx="1005840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1883664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013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Confirm 4 Additional Misclassifications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112264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Circuit breaker, copy paper, scanner maintenance contract = ~$30,300 still in PACKAGING. Review PO documentation.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68880"/>
            <a:ext cx="1005840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" y="2560320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4780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Assign Cat3 to 6 Blank Rows ($97,463)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7889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Kartonfabrik surcharge ($47K), ULINE products, MULTI SERVICES items need sub-category assignment.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145535"/>
            <a:ext cx="1005840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" y="3236975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1546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Address Supplier Concentration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65575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Top 5 = 73.7% of spend. Angleboard is sole-source for layer pads ($1.46M). Run competitive bids; develop secondary sources.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22191"/>
            <a:ext cx="100584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" y="3913631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3133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Consolidate Wood Pallet Supply (5 Suppliers)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142231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5 vendors, $921K. Consolidate to 2 preferred. Retain Egyptian Pallets as primary; qualify one secondary.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498848"/>
            <a:ext cx="100584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" y="4590288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507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Standardize Payment Terms to 60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81888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Angleboard &amp; Rehrig at 125 days ($329K). Target 60-day standard with rebate for early payment.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175503"/>
            <a:ext cx="100584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" y="5266943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18464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Evaluate Returnable Packaging ROI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495543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Orbis + Rehrig ($989K) offer returnable programs. Commission TCO analysis — 15-30% potential savings.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852159"/>
            <a:ext cx="1005840" cy="5943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" y="5943599"/>
            <a:ext cx="987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86130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96"/>
                </a:solidFill>
              </a:rPr>
              <a:t>Investigate NCA Maverick Spend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17219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</a:rPr>
              <a:t>$45,668/location vs EMEA $252,592. Survey plant managers for off-contract purchasing.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Market Research &amp; Supply Chain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Key risk factors shaping the Packaging &amp; Dunnage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82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D7D31"/>
                </a:solidFill>
              </a:rPr>
              <a:t>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MSBX 5470  |  Group 2  |  Packaging &amp; Dunnage Spend Analysis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486400" cy="1234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618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Supply Chain Disruptions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2618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[HIGH]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6916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Wood pallets, top frames, layer pads — 8-16+ week lead times persist. Safety stock strategy required.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486400" cy="1234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2618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Lumber Price Volatility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12618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[HIGH]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6916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Wood Pallet spend ($921K) directly exposed. ISPM-15 heat treatment adds cross-border costs.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60320"/>
            <a:ext cx="5486400" cy="1234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6334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Resin / Polymer Inflation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6334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[HIGH]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06323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Stretch wrap &amp; plastic pallets tied to oil prices. Group O's $867K contract needs escalation clauses.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560320"/>
            <a:ext cx="5486400" cy="1234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6334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 Inflation Exposure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6334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[HIGH]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06323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SA = $1.44M (22.9%), only 3 txns — highest risk per dollar. Regional inflation erodes real contract value.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931920"/>
            <a:ext cx="5486400" cy="12344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0050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EU PPWR Regulations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0050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[MEDIUM]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4348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EMEA (52% of spend) faces EU packaging mandates on recycled content and reuse targets by 2030.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931920"/>
            <a:ext cx="5486400" cy="123444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40050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Returnable Packaging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0050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[OPPORTUNITY]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44348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Orbis &amp; Rehrig offer returnable models. TCO savings of 15-30% achievable — supports ESG targets.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5303520"/>
            <a:ext cx="5486400" cy="1234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5848" y="53766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Supplier Concentration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53766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[HIGH]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58064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Single-source risk on layer pads (Angleboard) and stretch wrap (Group O) — production continuity at risk.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Stakeholder Questions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7EE"/>
                </a:solidFill>
              </a:rPr>
              <a:t>Interview guide and immediate action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82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D7D31"/>
                </a:solidFill>
              </a:rPr>
              <a:t>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</a:rPr>
              <a:t>MSBX 5470  |  Group 2  |  Packaging &amp; Dunnage Spend Analysis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96"/>
                </a:solidFill>
              </a:rPr>
              <a:t>Stakeholder Interview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137160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627632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96"/>
                </a:solidFill>
              </a:rPr>
              <a:t>Ops / Supply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62763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What are current lead times for top packaging materials vs. 12 months ago?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94560"/>
            <a:ext cx="137160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2267712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96"/>
                </a:solidFill>
              </a:rPr>
              <a:t>Procurement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26771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When were last competitive bids run for top 5 packaging suppliers?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34639"/>
            <a:ext cx="137160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2907791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96"/>
                </a:solidFill>
              </a:rPr>
              <a:t>Finance /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907791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Confirm EXTENDATA SOLUTIONS ($423K) — packaging or IT costs?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74720"/>
            <a:ext cx="137160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" y="3547872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96"/>
                </a:solidFill>
              </a:rPr>
              <a:t>Finance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5478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What price increases absorbed in packaging last 2 years? Escalation clauses in contracts?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114800"/>
            <a:ext cx="137160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4187952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96"/>
                </a:solidFill>
              </a:rPr>
              <a:t>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18795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Returnable packaging with Orbis &amp; Rehrig — current return rate and TCO?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54880"/>
            <a:ext cx="137160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4828032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96"/>
                </a:solidFill>
              </a:rPr>
              <a:t>NCA Plant Mgrs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82803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How is packaging procured at the plant level — centrally or locally?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394959"/>
            <a:ext cx="1371600" cy="5486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5468112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96"/>
                </a:solidFill>
              </a:rPr>
              <a:t>Legal / Sustain.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46811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96"/>
                </a:solidFill>
              </a:rPr>
              <a:t>EU PPWR compliance assessment — what packaging changes are required by 2030?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1097280"/>
            <a:ext cx="4206240" cy="5440680"/>
          </a:xfrm>
          <a:prstGeom prst="rect">
            <a:avLst/>
          </a:prstGeom>
          <a:solidFill>
            <a:srgbClr val="1F3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11887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60" y="1691640"/>
            <a:ext cx="36576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18704" y="1737360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Escalate EXTENDATA flag to Finance/IT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09560" y="2276856"/>
            <a:ext cx="36576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18704" y="2322576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232257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Confirm 4 additional mis-class. rows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2862072"/>
            <a:ext cx="36576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18704" y="2907791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7" y="290779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Assign Cat3 to 6 blank rows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09560" y="3447288"/>
            <a:ext cx="36576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18704" y="3493008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34930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Run competitive bid — Layer Pads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4032504"/>
            <a:ext cx="36576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18704" y="4078224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7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Run competitive bid — Stretch Wrap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60" y="4617720"/>
            <a:ext cx="36576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18704" y="4663440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7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Request TCO analysis from Orbis/Rehrig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09560" y="5202936"/>
            <a:ext cx="36576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18704" y="5248656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327" y="524865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Survey NCA plant managers re: local buying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09560" y="5788152"/>
            <a:ext cx="36576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18704" y="5833872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9327" y="5833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Validate SA supplier contracts vs. inflation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